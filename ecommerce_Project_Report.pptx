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834640"/>
            <a:ext cx="1177747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E-COMMERCE SALES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End-to-End Data Analytics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Dataset: realistic_e_commerce_sales_data.csv   |   1,000 Transactions   |   Jan 2023 – Jan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Key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FFFFFF"/>
                </a:solidFill>
              </a:rPr>
              <a:t>Total Revenue:  ₹1,378,791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FFFFFF"/>
                </a:solidFill>
              </a:rPr>
              <a:t>Orders: 1,000   |   Unique Customers: 292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FFFFFF"/>
                </a:solidFill>
              </a:rPr>
              <a:t>Return Rate: 30.8%   |   Delivery Rate: 31.3%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FFFFFF"/>
                </a:solidFill>
              </a:rPr>
              <a:t>Top Product: Laptop (₹715,314)   |   Top Region: West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Prepared by: Data Analytics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217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4A3B8"/>
                </a:solidFill>
              </a:rPr>
              <a:t>Python  |  pandas  |  Matplotlib  |  Seaborn  |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Report Structure — 20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6128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Cover &amp;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Introduction and key metrics at a glance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70992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916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Table of Contents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20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Report structure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5856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40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688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Objective and scope of the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80720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889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Business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0175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Goals and deliverables defined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3756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35584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37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Dataset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566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Structure, columns, data types, missing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8620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904487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86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Data Cleaning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14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12-step preprocessing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453127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4348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Feature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8 derived analytical columns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500176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9834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Executive KPI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212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Headline metrics — revenue, orders, customers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53212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5550407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532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Product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760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Revenue and quantity by product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080759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6099047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60807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Category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63093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Revenue concentration and contribution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114300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116128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1143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Regional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1371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Geographic performance breakdown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169164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170992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16916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Customer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1920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Loyalty, repeat rate, top spenders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224028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225856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2240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Gender Analysis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24688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Male vs Female revenue and orders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278892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280720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27889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Age Group Analysis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30175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Life-stage spending patterns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333756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335584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3337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Shipping Analysis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80" y="3566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Delivered, In Transit, Returned breakdown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388620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27648" y="3904487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2280" y="3886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Monthly Sales Trend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4114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Revenue and order trends across 12 months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443484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27648" y="4453127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12280" y="44348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Quarterly Performance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1228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Q1–Q4 revenue and order comparison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498348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27648" y="5001768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12280" y="49834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Business Insights (1/2)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5212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Data-backed findings and recommendations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5532120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27648" y="5550407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12280" y="5532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Business Insights (2/2)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12280" y="5760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Continued findings and recommendations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6080759"/>
            <a:ext cx="4114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27648" y="6099047"/>
            <a:ext cx="374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12280" y="60807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Conclusions &amp; Next Steps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12280" y="63093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Summary and action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Objective &amp; Scope of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960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Analyse 1,000 e-commerce transactions collected over 13 months (Jan 2023 – Jan 2024) to extract actionable insights that drive revenue growth, reduce returns, and improve customer experience.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33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Total revenue, average order value, quantity trends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28600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28600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Best and worst-performing products by revenue &amp; volume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15468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9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021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Revenue concentration, contribution %, avg order 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5468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15468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209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021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Loyalty rate, repeat buyers, spending distribution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2336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02336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78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Regions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708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Geographic sales performance across North/South/East/West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02336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02336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078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Gender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708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Revenue, order count and avg spend split by gender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9204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89204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94690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Shipping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395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Delivered vs In-Transit vs Returned order breakdown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89204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489204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94690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Trends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2395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Daily, monthly and quarterly revenue patterns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76072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76072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155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Age Groups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08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Life-stage spending segmentation (18-25 through 56+)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760720"/>
            <a:ext cx="55778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576072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58155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Returns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61081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Return rate, affected revenue, and root-cause indicators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Business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Goals &amp;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37160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898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Identify the highest-selling products by revenue and order frequency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37160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3898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Find the most profitable / high-revenue 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9456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237744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3957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Analyse regional sales performance across all four regions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19456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19456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37744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3957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Understand customer demographics — gender, age group, repeat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20040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38328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4015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Identify the most popular products by volume (units sold)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20040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20040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338328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4015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Analyse shipping and delivery status distribution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624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20624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438912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4074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Study monthly and quarterly sales trends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20624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20624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438912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4074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Measure quantity sold across all product and category dimensions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21208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21208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539496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4132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Calculate and benchmark the Average Order Value (AOV)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21208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521208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539496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4132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Identify returned orders and quantify their revenue impact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217920"/>
            <a:ext cx="5669280" cy="841248"/>
          </a:xfrm>
          <a:prstGeom prst="rect">
            <a:avLst/>
          </a:prstGeom>
          <a:solidFill>
            <a:srgbClr val="F1F5F9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6217920"/>
            <a:ext cx="5029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6400800"/>
            <a:ext cx="429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6419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Generate data-driven business recommendations for each dimension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Structure, Columns, Data Types &amp; Missing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78308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1,000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6856" y="1097280"/>
            <a:ext cx="178308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8296" y="11704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8296" y="14447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097280"/>
            <a:ext cx="178308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11704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Date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14447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Jan 2023 – Jan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1097280"/>
            <a:ext cx="178308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1704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Missing Cells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4447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200  (6.7%)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097280"/>
            <a:ext cx="178308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3" y="11704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Duplicates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14447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097280"/>
            <a:ext cx="178308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1704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File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14447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~147 KB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148840"/>
            <a:ext cx="36576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1762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148840"/>
            <a:ext cx="164592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1762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Column 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148840"/>
            <a:ext cx="118872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1762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 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2148840"/>
            <a:ext cx="9144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21762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Missing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2148840"/>
            <a:ext cx="50292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21762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459736"/>
            <a:ext cx="36576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51460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2459736"/>
            <a:ext cx="16459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51460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Customer 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2459736"/>
            <a:ext cx="11887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25146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string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2459736"/>
            <a:ext cx="9144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80" y="25146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2459736"/>
            <a:ext cx="50292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251460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Unique customer identifier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788920"/>
            <a:ext cx="3657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84378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2788920"/>
            <a:ext cx="16459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2843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Gender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2788920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28437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string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2788920"/>
            <a:ext cx="9144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284378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2788920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80" y="28437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Male / Female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118104"/>
            <a:ext cx="36576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317296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3118104"/>
            <a:ext cx="16459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3172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Region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77440" y="3118104"/>
            <a:ext cx="11887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23160" y="3172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string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3118104"/>
            <a:ext cx="9144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11880" y="31729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2626"/>
                </a:solidFill>
              </a:rPr>
              <a:t>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60" y="3118104"/>
            <a:ext cx="50292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26280" y="317296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North / South / East / West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447288"/>
            <a:ext cx="3657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350215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3447288"/>
            <a:ext cx="16459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350215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Age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77440" y="344728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23160" y="350215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float64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66160" y="3447288"/>
            <a:ext cx="9144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11880" y="350215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2626"/>
                </a:solidFill>
              </a:rPr>
              <a:t>100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80560" y="3447288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26280" y="3502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Customer age (years)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3776472"/>
            <a:ext cx="36576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3831335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" y="3776472"/>
            <a:ext cx="16459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" y="383133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Product Name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77440" y="3776472"/>
            <a:ext cx="11887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23160" y="3831335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string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66160" y="3776472"/>
            <a:ext cx="9144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11880" y="3831335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80560" y="3776472"/>
            <a:ext cx="50292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26280" y="3831335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Name of the ordered product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4105656"/>
            <a:ext cx="3657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416052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4105656"/>
            <a:ext cx="16459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7240" y="416052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Category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377440" y="41056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423160" y="416052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string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66160" y="4105656"/>
            <a:ext cx="9144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11880" y="416052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80560" y="4105656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26280" y="4160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Electronics / Wearables / Accessories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4434840"/>
            <a:ext cx="36576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1480" y="4489703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4434840"/>
            <a:ext cx="16459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7240" y="4489703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Unit Price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77440" y="4434840"/>
            <a:ext cx="11887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423160" y="4489703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float64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566160" y="4434840"/>
            <a:ext cx="9144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611880" y="4489703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4434840"/>
            <a:ext cx="50292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26280" y="4489703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Price per unit (₹)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4764024"/>
            <a:ext cx="3657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" y="481888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1520" y="4764024"/>
            <a:ext cx="16459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7240" y="481888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Quantity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77440" y="4764024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423160" y="48188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int64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566160" y="4764024"/>
            <a:ext cx="9144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611880" y="481888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480560" y="4764024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26280" y="48188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Units ordered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093208"/>
            <a:ext cx="36576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11480" y="51480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31520" y="5093208"/>
            <a:ext cx="16459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7240" y="51480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Total Price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377440" y="5093208"/>
            <a:ext cx="11887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423160" y="514807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float64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566160" y="5093208"/>
            <a:ext cx="9144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11880" y="51480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480560" y="5093208"/>
            <a:ext cx="50292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26280" y="51480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Unit Price × Quantity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65760" y="5422392"/>
            <a:ext cx="3657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11480" y="5477255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31520" y="5422392"/>
            <a:ext cx="16459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77240" y="547725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Shipping Fee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377440" y="542239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423160" y="5477255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float64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566160" y="5422392"/>
            <a:ext cx="9144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11880" y="5477255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480560" y="5422392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26280" y="5477255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Delivery charge (₹)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5760" y="5751575"/>
            <a:ext cx="36576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11480" y="5806439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31520" y="5751575"/>
            <a:ext cx="16459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77240" y="580643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Shipping Status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377440" y="5751575"/>
            <a:ext cx="118872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423160" y="5806439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string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566160" y="5751575"/>
            <a:ext cx="9144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611880" y="5806439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2626"/>
                </a:solidFill>
              </a:rPr>
              <a:t>50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480560" y="5751575"/>
            <a:ext cx="5029200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526280" y="5806439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Delivered / In Transit / Returned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65760" y="6080760"/>
            <a:ext cx="3657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11480" y="613562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31520" y="6080760"/>
            <a:ext cx="16459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7240" y="61356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Order Date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377440" y="6080760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423160" y="61356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string→dt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566160" y="6080760"/>
            <a:ext cx="9144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611880" y="61356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480560" y="6080760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526280" y="613562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Date of transaction (YYYY-MM-DD)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Cleaning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12-Step Preprocessing — Original Data Preserved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2435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Dataset Loaded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1,000 rows × 12 columns from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70432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70432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7" y="1335024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2435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Missing Value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Region: 50 nulls | Age: 100 nulls | Shipping: 50 nulls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48840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2313432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2221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Fill Missing 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25511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100 nulls replaced with median age (49.0)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148840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148840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7" y="2313432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2221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Fill Missing 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5511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50 nulls replaced with mode value 'West'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27248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127248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29184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3200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Fill Missing Shipping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3529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50 nulls replaced with 'Unknown'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127248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127248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7" y="329184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200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Remove Duplicates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3529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0 exact duplicate rows found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105656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105656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" y="4270248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41788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Remove Invalid Numerics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4507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0 rows with zero/negative prices or quantities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105656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105656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7" y="4270248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41788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Standardise Categories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4507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strip() + title-case on Gender, Region, Category, 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084064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084064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" y="5248656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" y="51572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Parse Order 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7" y="5486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Converted string → datetime64 (range: Jan 2023 – Jan 2024)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084064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5084064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7" y="5248656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51572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Extract Date Parts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5486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Year, Month, Month Name, Day columns created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062472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6062472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8" y="6227064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7" y="61356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Verify Total Price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7" y="6464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20 mismatched rows corrected (Unit Price × Qty)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6062472"/>
            <a:ext cx="571500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63640" y="6062472"/>
            <a:ext cx="45720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81927" y="6227064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30568" y="61356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Feature Engineering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0568" y="6464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8 new analytical columns added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446520"/>
            <a:ext cx="11640312" cy="29260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4648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Result: 1,000 rows × 24 columns  |  All missing values handled  |  Original raw data untouched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8 New Analytical Columns Derived from Raw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11887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= Total Price (verified)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Core per-order income 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42032"/>
            <a:ext cx="5577840" cy="11887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42032"/>
            <a:ext cx="5577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877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Total Amount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80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= Revenue + Shipping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9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Total paid by customer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95344"/>
            <a:ext cx="5577840" cy="11887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95344"/>
            <a:ext cx="5577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4106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342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dt.quarter → Q1 / Q2 / Q3 / 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725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Quarterly trend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48655"/>
            <a:ext cx="5577840" cy="11887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248655"/>
            <a:ext cx="5577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9437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Order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8756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dt.day_name() → Mon–Sun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02589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Day-of-week pattern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188720"/>
            <a:ext cx="5577840" cy="11887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188720"/>
            <a:ext cx="5577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627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pd.cut(Age) → 18-25 / 26-35 / 36-45 / 46-55 / 56+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1965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Life-stage customer segmentation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542032"/>
            <a:ext cx="5577840" cy="11887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542032"/>
            <a:ext cx="5577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5877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Revenue per Qty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980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= Revenue / Quantity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319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Effective per-unit revenue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95344"/>
            <a:ext cx="5577840" cy="11887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895344"/>
            <a:ext cx="5577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94106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Return Flag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3342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1 if Shipped = 'Returned' else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6725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Binary return indicator for modelling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248655"/>
            <a:ext cx="5577840" cy="11887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5248655"/>
            <a:ext cx="5577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29437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Delivered Flag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68756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1 if Shipped = 'Delivered' else 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602589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Binary delivery indicator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Executive 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Overall Sales Summary — Full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88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630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₹1,378,791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115568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188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Total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4630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1,000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1115568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5" y="1188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Units Sold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5" y="14630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3,008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5984" y="1115568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188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Unique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14630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292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94560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267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Avg Order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54203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₹1,379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2194560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267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Avg Unit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254203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₹458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17336" y="2194560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8775" y="2267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Avg Shipping Fee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5" y="254203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₹12.42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15984" y="2194560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267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Return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54203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30.8%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73552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3346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Delivery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362102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31.3%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18688" y="3273552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346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Repeat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362102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251 / 292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273552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8775" y="3346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Total Amount Paid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8775" y="362102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₹1,391,208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15984" y="3273552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07424" y="3346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Date Range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07424" y="362102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2023-01-01 → 2024-01-03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37083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4256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</a:rPr>
              <a:t>Electronics dominates with 89.3% revenue share  |  West region leads with ₹405,964  |  Peak month: January (₹153,523)  |  Top age segment: 46-55 (₹454,231)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937760"/>
            <a:ext cx="6400800" cy="18288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937760"/>
            <a:ext cx="5029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Product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Revenue, Quantity &amp; Return Rate by Product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217920" cy="411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88720"/>
            <a:ext cx="530352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376672"/>
            <a:ext cx="1164031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5413248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541324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413248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Quantity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5413248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413248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Return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696712"/>
            <a:ext cx="219456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5742432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Laptop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5696712"/>
            <a:ext cx="201168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5184" y="5742432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₹715,315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5696712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5742432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464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5696712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3" y="5742432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154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5696712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5742432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31.8%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007608"/>
            <a:ext cx="2194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6053328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Smartphone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6007608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6053328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₹359,609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6007608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3" y="605332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442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6007608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3" y="605332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6007608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605332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29.6%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318504"/>
            <a:ext cx="219456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6364224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Monitor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6318504"/>
            <a:ext cx="201168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5184" y="6364224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₹156,694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6318504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72583" y="6364224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503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6318504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47103" y="6364224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181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6318504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6364224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28.7%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629400"/>
            <a:ext cx="2194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6675120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Smartwatch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6629400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5184" y="6675120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₹74,200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6629400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72583" y="667512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371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6629400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47103" y="667512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122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6629400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21624" y="667512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31.1%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6940296"/>
            <a:ext cx="219456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4" y="6986016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Headphones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6940296"/>
            <a:ext cx="201168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15184" y="6986016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₹37,322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6940296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72583" y="698601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370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6940296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47103" y="698601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66760" y="6940296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21624" y="698601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33.3%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7251192"/>
            <a:ext cx="2194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4904" y="7296912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Keyboard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7251192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15184" y="7296912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₹23,329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17720" y="7251192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72583" y="7296912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458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7251192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47103" y="7296912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145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66760" y="7251192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21624" y="7296912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29.7%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7562088"/>
            <a:ext cx="219456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4904" y="7607808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Mouse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0" y="7562088"/>
            <a:ext cx="201168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15184" y="7607808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₹12,322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17720" y="7562088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72583" y="760780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400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92240" y="7562088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47103" y="760780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136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366760" y="7562088"/>
            <a:ext cx="182880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21624" y="760780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</a:rPr>
              <a:t>32.4%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Category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Revenue Concentration &amp; Contribution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47548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760720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925312"/>
            <a:ext cx="2743200" cy="77724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Top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7278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Electronics (89.3%)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5925312"/>
            <a:ext cx="2743200" cy="77724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Electronics AOV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627278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₹2,582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5925312"/>
            <a:ext cx="2743200" cy="77724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Accessories AOV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627278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₹182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5925312"/>
            <a:ext cx="3063240" cy="77724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599846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Wearables 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627278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5.4%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Regional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Geographic Sales Performance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52144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715000"/>
            <a:ext cx="2834640" cy="9601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7881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06247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Rev: ₹405,964  |  AOV: ₹1,372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39" y="5715000"/>
            <a:ext cx="2834640" cy="9601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57881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North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606247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Rev: ₹336,579  |  AOV: ₹1,470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5715000"/>
            <a:ext cx="2834640" cy="9601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57881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East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606247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Rev: ₹332,525  |  AOV: ₹1,440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5715000"/>
            <a:ext cx="2834640" cy="9601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57881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South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606247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Rev: ₹303,723  |  AOV: ₹1,245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Customer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Loyalty, Repeat Rate &amp; Top Spenders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70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Unique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4475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292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97280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170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Repeat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44475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251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097280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70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Repeat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4475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86.0%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097280"/>
            <a:ext cx="2743200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170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Avg Spend / Cust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44475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₹4,722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8840"/>
            <a:ext cx="6217920" cy="4572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675120" y="2148840"/>
            <a:ext cx="52120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21762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Customer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176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Total Spending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2496312"/>
            <a:ext cx="6400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75703" y="256946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496312"/>
            <a:ext cx="237744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2569464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CUST0204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496312"/>
            <a:ext cx="20116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4664" y="2569464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₹37,148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2889504"/>
            <a:ext cx="6400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75703" y="296265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889504"/>
            <a:ext cx="23774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2962656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CUST0131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889504"/>
            <a:ext cx="20116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84664" y="296265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₹27,618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3282696"/>
            <a:ext cx="6400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75703" y="3355848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3282696"/>
            <a:ext cx="237744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61504" y="3355848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CUST0095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3282696"/>
            <a:ext cx="20116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84664" y="335584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₹22,440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3675887"/>
            <a:ext cx="6400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75703" y="3749039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675887"/>
            <a:ext cx="23774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61504" y="3749039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CUST0139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800" y="3675887"/>
            <a:ext cx="20116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84664" y="3749039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₹18,350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4069080"/>
            <a:ext cx="6400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75703" y="414223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4069080"/>
            <a:ext cx="237744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61504" y="4142232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CUST0281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4069080"/>
            <a:ext cx="20116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84664" y="4142232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₹17,850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462272"/>
            <a:ext cx="6400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75703" y="453542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4462272"/>
            <a:ext cx="23774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61504" y="4535424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CUST0144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29800" y="4462272"/>
            <a:ext cx="20116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84664" y="4535424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₹17,320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20840" y="4855464"/>
            <a:ext cx="6400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75703" y="492861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06640" y="4855464"/>
            <a:ext cx="237744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61504" y="4928616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CUST0200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29800" y="4855464"/>
            <a:ext cx="20116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84664" y="492861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₹16,700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0840" y="5248656"/>
            <a:ext cx="6400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3" y="5321808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06640" y="5248656"/>
            <a:ext cx="23774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61504" y="5321808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CUST0064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29800" y="5248656"/>
            <a:ext cx="20116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84664" y="532180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₹16,210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20840" y="5641848"/>
            <a:ext cx="6400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75703" y="571500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06640" y="5641848"/>
            <a:ext cx="237744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61504" y="5715000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CUST0197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29800" y="5641848"/>
            <a:ext cx="2011680" cy="37490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84664" y="5715000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₹16,150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20840" y="6035040"/>
            <a:ext cx="6400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75703" y="610819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06640" y="6035040"/>
            <a:ext cx="23774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61504" y="6108192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CUST0138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29800" y="6035040"/>
            <a:ext cx="201168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84664" y="6108192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₹15,569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Gender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Revenue, Orders &amp; Avg Spending by Gender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52144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870448"/>
            <a:ext cx="566928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9436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21792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Revenue: ₹731,482  |  Orders: 524  |  Qty: 1,586  |  AOV: ₹1,396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870448"/>
            <a:ext cx="566928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59436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Female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621792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Revenue: ₹647,309  |  Orders: 476  |  Qty: 1,422  |  AOV: ₹1,360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 Group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Life-Stage Spending &amp; Revenue Segmentation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52144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870448"/>
            <a:ext cx="219456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9436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18-25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217920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₹119,044  |  98 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5870448"/>
            <a:ext cx="219456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59436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26-35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6217920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₹164,374  |  135 orders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5870448"/>
            <a:ext cx="219456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9" y="59436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36-45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6217920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₹215,730  |  172 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79" y="5870448"/>
            <a:ext cx="219456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19" y="59436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46-55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6217920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</a:rPr>
              <a:t>₹454,231  |  286 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5870448"/>
            <a:ext cx="219456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594360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56+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217920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₹425,412  |  309 orders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Shipping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Delivered / In Transit / Returned Breakdown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52144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870448"/>
            <a:ext cx="283464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9436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In Transit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21792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329 orders  (32.9%)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5870448"/>
            <a:ext cx="283464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59436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621792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313 orders  (31.3%)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5870448"/>
            <a:ext cx="283464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59436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Returned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621792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308 orders  (30.8%)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44584" y="5870448"/>
            <a:ext cx="2834640" cy="82296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59436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Unknown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6024" y="621792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</a:rPr>
              <a:t>50 orders  (5.0%)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Monthly Sales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Revenue &amp; Order Count Across 12 Months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5214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Quarterly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Q1–Q4 Revenue &amp; Order Comparison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521440" cy="4754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6053328"/>
            <a:ext cx="2834640" cy="6858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₹301,810  (255 orders)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6053328"/>
            <a:ext cx="2834640" cy="6858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61264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640080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₹352,779  (242 orders)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6053328"/>
            <a:ext cx="2834640" cy="6858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61264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640080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₹340,797  (244 orders)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44584" y="6053328"/>
            <a:ext cx="2834640" cy="6858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61264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6024" y="640080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₹383,405  (259 orders)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Business Insights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Data-Backed Findings &amp;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685800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97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Top-Selling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9047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Finding: Laptop drives the highest revenue (₹715,315). Mouse is the weakest performer.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6479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Recommendation: Increase marketing spend and bundled promotions for Laptop. Review pricing or visibility strategy for Mouse.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40280"/>
            <a:ext cx="11640312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40280"/>
            <a:ext cx="685800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4688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95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Category Revenue 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58775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Finding: Electronics contributes 89.3% of total revenue, indicating heavy reliance on a single category.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620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Recommendation: Diversify the product catalogue across under-performing categories to reduce revenue concentration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37560"/>
            <a:ext cx="11640312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337560"/>
            <a:ext cx="685800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5661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392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Regional Performance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68503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Finding: West leads all regions in revenue. South shows the lowest sales volume.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95935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Recommendation: Audit logistics, pricing, and marketing in South. Replicate the successful playbook from West.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34840"/>
            <a:ext cx="11640312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434840"/>
            <a:ext cx="685800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663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↩️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48970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Return Rate 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Finding: 30.8% of orders are returned, representing ₹425,823 in reversed revenue.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Recommendation: Investigate top return reasons — incorrect size, quality issues, or misleading product descriptions — and implement targeted fixes.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11640312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532120"/>
            <a:ext cx="685800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7607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58698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Delivery Success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87959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Finding: 31.3% of orders are successfully delivered, generating ₹416,233 in confirmed revenue.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61539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Recommendation: Offer real-time tracking and proactive delay notifications to further improve customer satisfaction and reduce in-transit losses.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Business Insights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Continued Findings &amp;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685800" cy="9875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97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Customer Loyalty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9047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Finding: 251 of 292 customers (86.0%) have placed more than one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6479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Recommendation: Launch a tiered loyalty programme — points, early access, and personalised discounts — to convert one-time buyers into repeat customers.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40280"/>
            <a:ext cx="11640312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40280"/>
            <a:ext cx="685800" cy="9875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4688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95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High-Value Age Segment: 46-55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58775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Finding: The 46-55 age group generates the highest revenue (₹454,231).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620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Recommendation: Tailor email campaigns, push notifications, and product curation specifically for the 46-55 demographic.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37560"/>
            <a:ext cx="11640312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337560"/>
            <a:ext cx="685800" cy="9875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5661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392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Seasonal Sales Peaks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68503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Finding: Revenue peaks in Jan and dips in Mar.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95935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Recommendation: Pre-load inventory and run promotional campaigns before Jan. Use clearance sales and discounts to lift Mar performance.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34840"/>
            <a:ext cx="11640312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434840"/>
            <a:ext cx="685800" cy="9875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663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48970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Average Order Value Optimisation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Finding: The current average order value is ₹1,378.79.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Recommendation: Implement 'Frequently Bought Together', minimum-spend free-shipping thresholds, and volume-discount bundles to raise the average order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Summary of Findings &amp; Recommended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715000" cy="100584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71500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795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54533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Total revenue of ₹1,378,791 across 1,000 orders with an AOV of ₹1,379.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5715000" cy="100584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571500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795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Electronics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4533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Electronics dominates with 89.3% revenue share — diversification is a strategic priority.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04288"/>
            <a:ext cx="5715000" cy="100584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304288"/>
            <a:ext cx="571500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340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Top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70662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Laptop drives 51.9% of total revenue; Mouse and Keyboard need promotion strategy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304288"/>
            <a:ext cx="5715000" cy="100584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304288"/>
            <a:ext cx="571500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40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0662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West leads revenue; South lags — regional campaigns and logistics review recommended.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65576"/>
            <a:ext cx="5715000" cy="100584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465576"/>
            <a:ext cx="571500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5021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86791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30.8% return rate representing ₹425,823 in reversed revenue needs immediate attention.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465576"/>
            <a:ext cx="5715000" cy="100584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465576"/>
            <a:ext cx="571500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Demographics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6791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Age group 46-55 is the highest-spending segment; target with premium &amp; loyalty offers.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626864"/>
            <a:ext cx="5715000" cy="100584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626864"/>
            <a:ext cx="571500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663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Seasonality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January is the peak month; March is the weakest — plan inventory and campaigns accordingly.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626864"/>
            <a:ext cx="5715000" cy="1005840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626864"/>
            <a:ext cx="571500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63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Loyalty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251 of 292 customers (86%) are repeat buyers — a strong loyalty base.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925312"/>
            <a:ext cx="11640312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9618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Recommended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4535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Invest in Electronics diversification  •  Fix return pipeline  •  Launch 46-55 loyalty campaign  •  Boost South region marketing  •  Bundle Mouse &amp; Keyboard with Laptop  •  Pre-stock for January peak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